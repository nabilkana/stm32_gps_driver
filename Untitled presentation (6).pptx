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5143500" cx="9144000"/>
  <p:notesSz cx="6858000" cy="9144000"/>
  <p:embeddedFontLst>
    <p:embeddedFont>
      <p:font typeface="Roboto Mono"/>
      <p:regular r:id="rId10"/>
      <p:bold r:id="rId11"/>
      <p:italic r:id="rId12"/>
      <p:boldItalic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RobotoMono-bold.fntdata"/><Relationship Id="rId10" Type="http://schemas.openxmlformats.org/officeDocument/2006/relationships/font" Target="fonts/RobotoMono-regular.fntdata"/><Relationship Id="rId13" Type="http://schemas.openxmlformats.org/officeDocument/2006/relationships/font" Target="fonts/RobotoMono-boldItalic.fntdata"/><Relationship Id="rId12" Type="http://schemas.openxmlformats.org/officeDocument/2006/relationships/font" Target="fonts/RobotoMon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5f3082e15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5f3082e15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5f3082e15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5f3082e15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5f3082e15a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5f3082e15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5f3082e15a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5f3082e15a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solidFill>
                  <a:srgbClr val="4A86E8"/>
                </a:solidFill>
              </a:rPr>
              <a:t>STM32 GPS Driver: Design, Code, and Usage</a:t>
            </a:r>
            <a:endParaRPr>
              <a:solidFill>
                <a:srgbClr val="4A86E8"/>
              </a:solidFill>
            </a:endParaRPr>
          </a:p>
        </p:txBody>
      </p:sp>
      <p:sp>
        <p:nvSpPr>
          <p:cNvPr id="55" name="Google Shape;55;p13"/>
          <p:cNvSpPr txBox="1"/>
          <p:nvPr>
            <p:ph idx="1" type="subTitle"/>
          </p:nvPr>
        </p:nvSpPr>
        <p:spPr>
          <a:xfrm>
            <a:off x="311700" y="3295175"/>
            <a:ext cx="8520600" cy="551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t>Nabil KANA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Overview : </a:t>
            </a:r>
            <a:endParaRPr/>
          </a:p>
        </p:txBody>
      </p:sp>
      <p:sp>
        <p:nvSpPr>
          <p:cNvPr id="61" name="Google Shape;61;p14"/>
          <p:cNvSpPr txBox="1"/>
          <p:nvPr>
            <p:ph idx="1" type="body"/>
          </p:nvPr>
        </p:nvSpPr>
        <p:spPr>
          <a:xfrm>
            <a:off x="311700" y="1152475"/>
            <a:ext cx="8520600" cy="4100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GB" sz="1100">
                <a:solidFill>
                  <a:srgbClr val="000000"/>
                </a:solidFill>
              </a:rPr>
              <a:t> </a:t>
            </a:r>
            <a:r>
              <a:rPr lang="en-GB" sz="1100">
                <a:solidFill>
                  <a:schemeClr val="dk1"/>
                </a:solidFill>
              </a:rPr>
              <a:t>This project implements a real-time GPS parser on an STM32 microcontroller using UART with DMA and idle line detection. The system captures and processes standard NMEA sentences from a GPS module (e.g., NEO-6M), extracts latitude, longitude, and fix status, and outputs this information over a secondary UART interface for monitoring via serial terminal tools such as PuTTY. First, UART1 DMA must be enabled to continuously receive GPS data into a circular buffer. An interrupt handler for the UART1 idle line is overridden to set a flag, </a:t>
            </a:r>
            <a:r>
              <a:rPr lang="en-GB" sz="1100">
                <a:solidFill>
                  <a:srgbClr val="188038"/>
                </a:solidFill>
                <a:latin typeface="Roboto Mono"/>
                <a:ea typeface="Roboto Mono"/>
                <a:cs typeface="Roboto Mono"/>
                <a:sym typeface="Roboto Mono"/>
              </a:rPr>
              <a:t>gps_data_ready</a:t>
            </a:r>
            <a:r>
              <a:rPr lang="en-GB" sz="1100">
                <a:solidFill>
                  <a:schemeClr val="dk1"/>
                </a:solidFill>
              </a:rPr>
              <a:t>, whenever the GPS stops sending data, signaling that new data is ready for processing and helping to avoid redundant reads. Since GPS data can be noisy or corrupted, a checksum validation function ensures each NMEA sentence is verified before being processed. The parser supports three types of NMEA sentences—GPRMC, GNGLL, and GPGGA—but can be extended for others. Based on the sentence type received, the corresponding parsing function is called to extract and convert the raw NMEA coordinates into decimal format, storing the results in a struct . Several API functions, like </a:t>
            </a:r>
            <a:r>
              <a:rPr lang="en-GB" sz="1100">
                <a:solidFill>
                  <a:srgbClr val="188038"/>
                </a:solidFill>
                <a:latin typeface="Roboto Mono"/>
                <a:ea typeface="Roboto Mono"/>
                <a:cs typeface="Roboto Mono"/>
                <a:sym typeface="Roboto Mono"/>
              </a:rPr>
              <a:t>GPS_GetFixStatus()</a:t>
            </a:r>
            <a:r>
              <a:rPr lang="en-GB" sz="1100">
                <a:solidFill>
                  <a:schemeClr val="dk1"/>
                </a:solidFill>
              </a:rPr>
              <a:t> and </a:t>
            </a:r>
            <a:r>
              <a:rPr lang="en-GB" sz="1100">
                <a:solidFill>
                  <a:srgbClr val="188038"/>
                </a:solidFill>
                <a:latin typeface="Roboto Mono"/>
                <a:ea typeface="Roboto Mono"/>
                <a:cs typeface="Roboto Mono"/>
                <a:sym typeface="Roboto Mono"/>
              </a:rPr>
              <a:t>GPS_GetLongitude()</a:t>
            </a:r>
            <a:r>
              <a:rPr lang="en-GB" sz="1100">
                <a:solidFill>
                  <a:schemeClr val="dk1"/>
                </a:solidFill>
              </a:rPr>
              <a:t>, provide easy access to the parsed GPS information. Because GPS fixes can take time and data updates occur at a low rate, there is a risk of reading invalid or duplicate data. To address this, two functions—</a:t>
            </a:r>
            <a:r>
              <a:rPr lang="en-GB" sz="1100">
                <a:solidFill>
                  <a:srgbClr val="188038"/>
                </a:solidFill>
                <a:latin typeface="Roboto Mono"/>
                <a:ea typeface="Roboto Mono"/>
                <a:cs typeface="Roboto Mono"/>
                <a:sym typeface="Roboto Mono"/>
              </a:rPr>
              <a:t>GPS_DataReady()</a:t>
            </a:r>
            <a:r>
              <a:rPr lang="en-GB" sz="1100">
                <a:solidFill>
                  <a:schemeClr val="dk1"/>
                </a:solidFill>
              </a:rPr>
              <a:t> and </a:t>
            </a:r>
            <a:r>
              <a:rPr lang="en-GB" sz="1100">
                <a:solidFill>
                  <a:srgbClr val="188038"/>
                </a:solidFill>
                <a:latin typeface="Roboto Mono"/>
                <a:ea typeface="Roboto Mono"/>
                <a:cs typeface="Roboto Mono"/>
                <a:sym typeface="Roboto Mono"/>
              </a:rPr>
              <a:t>GPS_ClearDataReady()</a:t>
            </a:r>
            <a:r>
              <a:rPr lang="en-GB" sz="1100">
                <a:solidFill>
                  <a:schemeClr val="dk1"/>
                </a:solidFill>
              </a:rPr>
              <a:t>—manage whether new data is available or has already been read. Finally, the data processing function should be called before any read operation to ensure only fresh data is handled, improving efficiency and reliability. To display the GPS output on a PC, PuTTY can be used as a serial terminal. After identifying the correct COM port in Device Manager (under Ports (COM &amp; LPT)), PuTTY should be configured for serial communication at a baud rate of </a:t>
            </a:r>
            <a:r>
              <a:rPr b="1" lang="en-GB" sz="1100">
                <a:solidFill>
                  <a:schemeClr val="dk1"/>
                </a:solidFill>
              </a:rPr>
              <a:t>38400</a:t>
            </a:r>
            <a:r>
              <a:rPr lang="en-GB" sz="1100">
                <a:solidFill>
                  <a:schemeClr val="dk1"/>
                </a:solidFill>
              </a:rPr>
              <a:t> to match the GPS UART1 baud rate. This baud rate must be configured accordingly in CubeIDE either by setting UART1’s peripheral parameters or by overwriting the UART initialization structure in main C code.</a:t>
            </a:r>
            <a:br>
              <a:rPr lang="en-GB" sz="1100">
                <a:solidFill>
                  <a:schemeClr val="dk1"/>
                </a:solidFill>
              </a:rPr>
            </a:br>
            <a:r>
              <a:rPr lang="en-GB" sz="1100">
                <a:solidFill>
                  <a:schemeClr val="dk1"/>
                </a:solidFill>
              </a:rPr>
              <a:t>The testing and example usage demonstrating how to integrate the GPS parser and UART setup can be found in </a:t>
            </a:r>
            <a:r>
              <a:rPr lang="en-GB" sz="1100">
                <a:solidFill>
                  <a:srgbClr val="188038"/>
                </a:solidFill>
                <a:latin typeface="Roboto Mono"/>
                <a:ea typeface="Roboto Mono"/>
                <a:cs typeface="Roboto Mono"/>
                <a:sym typeface="Roboto Mono"/>
              </a:rPr>
              <a:t>main.c.</a:t>
            </a:r>
            <a:endParaRPr b="1"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nvSpPr>
        <p:spPr>
          <a:xfrm>
            <a:off x="370400" y="496675"/>
            <a:ext cx="9009000" cy="186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1"/>
                </a:solidFill>
              </a:rPr>
              <a:t>To display GPS data on your PC, since there isn’t a built-in serial monitor like Arduino’s IDE, you can use </a:t>
            </a:r>
            <a:r>
              <a:rPr b="1" lang="en-GB" sz="1100">
                <a:solidFill>
                  <a:schemeClr val="dk1"/>
                </a:solidFill>
              </a:rPr>
              <a:t>Putty</a:t>
            </a:r>
            <a:r>
              <a:rPr lang="en-GB" sz="1100">
                <a:solidFill>
                  <a:schemeClr val="dk1"/>
                </a:solidFill>
              </a:rPr>
              <a:t>. First, download and install Putty. Then, open </a:t>
            </a:r>
            <a:r>
              <a:rPr b="1" lang="en-GB" sz="1100">
                <a:solidFill>
                  <a:schemeClr val="dk1"/>
                </a:solidFill>
              </a:rPr>
              <a:t>Device Manager</a:t>
            </a:r>
            <a:r>
              <a:rPr lang="en-GB" sz="1100">
                <a:solidFill>
                  <a:schemeClr val="dk1"/>
                </a:solidFill>
              </a:rPr>
              <a:t> on your PC and expand the </a:t>
            </a:r>
            <a:r>
              <a:rPr b="1" lang="en-GB" sz="1100">
                <a:solidFill>
                  <a:schemeClr val="dk1"/>
                </a:solidFill>
              </a:rPr>
              <a:t>Ports (COM &amp; LPT)</a:t>
            </a:r>
            <a:r>
              <a:rPr lang="en-GB" sz="1100">
                <a:solidFill>
                  <a:schemeClr val="dk1"/>
                </a:solidFill>
              </a:rPr>
              <a:t> section to find which COM port your STM32’s ST-Link debugger is connected to. Open Putty, select </a:t>
            </a:r>
            <a:r>
              <a:rPr b="1" lang="en-GB" sz="1100">
                <a:solidFill>
                  <a:schemeClr val="dk1"/>
                </a:solidFill>
              </a:rPr>
              <a:t>Serial</a:t>
            </a:r>
            <a:r>
              <a:rPr lang="en-GB" sz="1100">
                <a:solidFill>
                  <a:schemeClr val="dk1"/>
                </a:solidFill>
              </a:rPr>
              <a:t> as the connection type, enter the COM port number you found, and set the baud rate to </a:t>
            </a:r>
            <a:r>
              <a:rPr b="1" lang="en-GB" sz="1100">
                <a:solidFill>
                  <a:schemeClr val="dk1"/>
                </a:solidFill>
              </a:rPr>
              <a:t>115200</a:t>
            </a:r>
            <a:r>
              <a:rPr lang="en-GB" sz="1100">
                <a:solidFill>
                  <a:schemeClr val="dk1"/>
                </a:solidFill>
              </a:rPr>
              <a:t> (matching your uart2 configured through CubeIDE or main ). This setup allows you to view real-time GPS data output from your embedded system in a terminal window, making debugging and monitoring straightforward.</a:t>
            </a:r>
            <a:endParaRPr sz="1800">
              <a:solidFill>
                <a:schemeClr val="dk2"/>
              </a:solidFill>
            </a:endParaRPr>
          </a:p>
          <a:p>
            <a:pPr indent="0" lvl="0" marL="0" rtl="0" algn="l">
              <a:spcBef>
                <a:spcPts val="0"/>
              </a:spcBef>
              <a:spcAft>
                <a:spcPts val="0"/>
              </a:spcAft>
              <a:buClr>
                <a:schemeClr val="dk1"/>
              </a:buClr>
              <a:buSzPts val="1100"/>
              <a:buFont typeface="Arial"/>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67" name="Google Shape;67;p15" title="ggg.png"/>
          <p:cNvPicPr preferRelativeResize="0"/>
          <p:nvPr/>
        </p:nvPicPr>
        <p:blipFill>
          <a:blip r:embed="rId3">
            <a:alphaModFix/>
          </a:blip>
          <a:stretch>
            <a:fillRect/>
          </a:stretch>
        </p:blipFill>
        <p:spPr>
          <a:xfrm>
            <a:off x="2173575" y="1577550"/>
            <a:ext cx="4267999" cy="331675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idx="1" type="body"/>
          </p:nvPr>
        </p:nvSpPr>
        <p:spPr>
          <a:xfrm>
            <a:off x="1623925" y="4188900"/>
            <a:ext cx="5998800" cy="605100"/>
          </a:xfrm>
          <a:prstGeom prst="rect">
            <a:avLst/>
          </a:prstGeom>
        </p:spPr>
        <p:txBody>
          <a:bodyPr anchorCtr="0" anchor="ctr" bIns="91425" lIns="91425" spcFirstLastPara="1" rIns="91425" wrap="square" tIns="91425">
            <a:normAutofit fontScale="92500"/>
          </a:bodyPr>
          <a:lstStyle/>
          <a:p>
            <a:pPr indent="0" lvl="0" marL="0" rtl="0" algn="l">
              <a:spcBef>
                <a:spcPts val="0"/>
              </a:spcBef>
              <a:spcAft>
                <a:spcPts val="0"/>
              </a:spcAft>
              <a:buNone/>
            </a:pPr>
            <a:r>
              <a:rPr b="1" lang="en-GB"/>
              <a:t> STM32 Receiving and Displaying GPS Data via UART</a:t>
            </a:r>
            <a:endParaRPr b="1"/>
          </a:p>
        </p:txBody>
      </p:sp>
      <p:pic>
        <p:nvPicPr>
          <p:cNvPr id="73" name="Google Shape;73;p16" title="IMG_1547.JPG"/>
          <p:cNvPicPr preferRelativeResize="0"/>
          <p:nvPr/>
        </p:nvPicPr>
        <p:blipFill>
          <a:blip r:embed="rId3">
            <a:alphaModFix/>
          </a:blip>
          <a:stretch>
            <a:fillRect/>
          </a:stretch>
        </p:blipFill>
        <p:spPr>
          <a:xfrm>
            <a:off x="1911800" y="42975"/>
            <a:ext cx="5178798" cy="38840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